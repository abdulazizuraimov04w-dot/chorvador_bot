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Oilalar soni</c:v>
                </c:pt>
              </c:strCache>
            </c:strRef>
          </c:tx>
          <c:spPr>
            <a:solidFill>
              <a:srgbClr val="0D9488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Start (hozir)</c:v>
                </c:pt>
                <c:pt idx="1">
                  <c:v>6 oy</c:v>
                </c:pt>
                <c:pt idx="2">
                  <c:v>1 yil</c:v>
                </c:pt>
                <c:pt idx="3">
                  <c:v>To'liq bozor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1000</c:v>
                </c:pt>
                <c:pt idx="2">
                  <c:v>1800</c:v>
                </c:pt>
                <c:pt idx="3">
                  <c:v>2900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010d976-3b41-4c44-8a69-762dc8845d2d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Sof foyda (mln so'm)</c:v>
                </c:pt>
              </c:strCache>
            </c:strRef>
          </c:tx>
          <c:spPr>
            <a:ln w="31750" cap="rnd" cmpd="sng" algn="ctr">
              <a:solidFill>
                <a:srgbClr val="0D948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Oy 1</c:v>
                </c:pt>
                <c:pt idx="1">
                  <c:v>Oy 2</c:v>
                </c:pt>
                <c:pt idx="2">
                  <c:v>Oy 3</c:v>
                </c:pt>
                <c:pt idx="3">
                  <c:v>Oy 4</c:v>
                </c:pt>
                <c:pt idx="4">
                  <c:v>Oy 5</c:v>
                </c:pt>
                <c:pt idx="5">
                  <c:v>Oy 6</c:v>
                </c:pt>
                <c:pt idx="6">
                  <c:v>Oy 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60</c:v>
                </c:pt>
                <c:pt idx="2">
                  <c:v>80</c:v>
                </c:pt>
                <c:pt idx="3">
                  <c:v>105</c:v>
                </c:pt>
                <c:pt idx="4">
                  <c:v>130</c:v>
                </c:pt>
                <c:pt idx="5">
                  <c:v>155</c:v>
                </c:pt>
                <c:pt idx="6">
                  <c:v>261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e611bc2-38a5-44db-b970-f8e7c3207102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 panose="020F0502020204030204"/>
              </a:rPr>
              <a:t>CHORVADOR</a:t>
            </a:r>
            <a:endParaRPr sz="4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EEAD4"/>
                </a:solidFill>
                <a:latin typeface="Calibri" panose="020F0502020204030204"/>
              </a:rPr>
              <a:t>YETKAZIB BERISH TIZIMI</a:t>
            </a:r>
            <a:endParaRPr sz="2200" b="0" i="0">
              <a:solidFill>
                <a:srgbClr val="5EEAD4"/>
              </a:solidFill>
              <a:latin typeface="Calibri" panose="020F0502020204030204"/>
            </a:endParaRPr>
          </a:p>
        </p:txBody>
      </p:sp>
      <p:sp>
        <p:nvSpPr>
          <p:cNvPr id="7" name="Block Arc 6"/>
          <p:cNvSpPr/>
          <p:nvPr/>
        </p:nvSpPr>
        <p:spPr>
          <a:xfrm>
            <a:off x="548640" y="2788920"/>
            <a:ext cx="3657600" cy="0"/>
          </a:xfrm>
          <a:prstGeom prst="blockArc">
            <a:avLst/>
          </a:prstGeom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 panose="020F0502020204030204"/>
              </a:rPr>
              <a:t>Investorlar uchun taqdimot  |  2026</a:t>
            </a:r>
            <a:endParaRPr sz="1300" b="0" i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 panose="020F0502020204030204"/>
              </a:rPr>
              <a:t>Avtomatlashtirilgan sut mahsulotlari yetkazib berish platformasi</a:t>
            </a:r>
            <a:endParaRPr sz="1400" b="0" i="1">
              <a:solidFill>
                <a:srgbClr val="CBD5E1"/>
              </a:solidFill>
              <a:latin typeface="Calibri" panose="020F0502020204030204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015" y="179070"/>
            <a:ext cx="1156970" cy="11722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MUAMMO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57200" y="922020"/>
            <a:ext cx="40233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371600" y="1097280"/>
            <a:ext cx="2926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>
                <a:solidFill>
                  <a:srgbClr val="1E293B"/>
                </a:solidFill>
                <a:latin typeface="Calibri" panose="020F0502020204030204"/>
              </a:rPr>
              <a:t>Tasodifiy mijozlar</a:t>
            </a:r>
            <a:endParaRPr lang="en-US" sz="14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371600" y="1508760"/>
            <a:ext cx="29260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>
                <a:solidFill>
                  <a:srgbClr val="64748B"/>
                </a:solidFill>
                <a:latin typeface="Calibri" panose="020F0502020204030204"/>
              </a:rPr>
              <a:t>har kuni mijoz qidirish</a:t>
            </a:r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, vaqt sarfi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4846320" y="914400"/>
            <a:ext cx="40233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143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  <a:latin typeface="Calibri" panose="020F0502020204030204"/>
              </a:rPr>
              <a:t>📋</a:t>
            </a:r>
            <a:endParaRPr sz="28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 panose="020F0502020204030204"/>
              </a:rPr>
              <a:t>Qo'lda yozib olish</a:t>
            </a:r>
            <a:endParaRPr sz="14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760720" y="1508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Ma'lumot yo'qoladi, tahlil qilib bo'lmaydi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57200" y="2606040"/>
            <a:ext cx="40233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  <a:latin typeface="Calibri" panose="020F0502020204030204"/>
              </a:rPr>
              <a:t>🗺️</a:t>
            </a:r>
            <a:endParaRPr sz="28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37160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 panose="020F0502020204030204"/>
              </a:rPr>
              <a:t>Marshrut rejasiz yetkazish</a:t>
            </a:r>
            <a:endParaRPr sz="14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37160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Vaqt va yoqilg'i isrof bo'ladi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4846320" y="2606040"/>
            <a:ext cx="40233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834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  <a:latin typeface="Calibri" panose="020F0502020204030204"/>
              </a:rPr>
              <a:t>💰</a:t>
            </a:r>
            <a:endParaRPr sz="28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57607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 panose="020F0502020204030204"/>
              </a:rPr>
              <a:t>Hisobot yo'q</a:t>
            </a:r>
            <a:endParaRPr sz="14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576072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Daromad va yo'qotishlar aniq ko'rinmaydi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 panose="020F0502020204030204"/>
              </a:rPr>
              <a:t>O'zbekiston qishloqlarida sut mahsulotlari yetkazib berish hali ham butunlay qo'lda amalga oshiriladi.</a:t>
            </a:r>
            <a:endParaRPr sz="12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YECHIM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  <a:latin typeface="Calibri" panose="020F0502020204030204"/>
              </a:rPr>
              <a:t>Chorvador — to'liq avtomatlashtirilgan platforma</a:t>
            </a:r>
            <a:endParaRPr sz="18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5" name="Oval 4"/>
          <p:cNvSpPr/>
          <p:nvPr/>
        </p:nvSpPr>
        <p:spPr>
          <a:xfrm>
            <a:off x="960120" y="11887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16152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Mijoz
Telegram Bot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Mini App orqali
buyurtma beradi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9" name="Block Arc 8"/>
          <p:cNvSpPr/>
          <p:nvPr/>
        </p:nvSpPr>
        <p:spPr>
          <a:xfrm>
            <a:off x="2240279" y="1508760"/>
            <a:ext cx="34747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36391" y="11887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1" y="1216152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24912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Bot
Qabul qiladi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1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PostgreSQL ga
saqlaydi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4" name="Block Arc 13"/>
          <p:cNvSpPr/>
          <p:nvPr/>
        </p:nvSpPr>
        <p:spPr>
          <a:xfrm>
            <a:off x="4416552" y="1508760"/>
            <a:ext cx="34747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12664" y="11887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216152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01184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Admin
Panel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55464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Buyurtmalarni
boshqaradi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9" name="Block Arc 18"/>
          <p:cNvSpPr/>
          <p:nvPr/>
        </p:nvSpPr>
        <p:spPr>
          <a:xfrm>
            <a:off x="6592824" y="1508760"/>
            <a:ext cx="34747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88936" y="11887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1216152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77456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Xarita +
Marshrut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31736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Eng qisqa yo'l
bilan yetkazadi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 panose="020F0502020204030204"/>
              </a:rPr>
              <a:t>Telegram Bot  →  PostgreSQL  →  Admin Panel  →  Xarita  →  Mijoz</a:t>
            </a:r>
            <a:endParaRPr sz="13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 panose="020F0502020204030204"/>
              </a:rPr>
              <a:t>Natija: Har bir buyurtma avtomatik qayd etiladi, yo'qotish yo'q, hisobot bir tugma bilan.</a:t>
            </a:r>
            <a:endParaRPr sz="1300" b="1" i="0">
              <a:solidFill>
                <a:srgbClr val="0D948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BOZOR HAJMI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EEAD4"/>
                </a:solidFill>
                <a:latin typeface="Calibri" panose="020F0502020204030204"/>
              </a:rPr>
              <a:t>Faqat bitta qishloq — katta potensial</a:t>
            </a:r>
            <a:endParaRPr sz="1400" b="0" i="1">
              <a:solidFill>
                <a:srgbClr val="5EEAD4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606040" cy="1417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 panose="020F0502020204030204"/>
              </a:rPr>
              <a:t>13 000</a:t>
            </a:r>
            <a:endParaRPr sz="3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Aholi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EAD4"/>
                </a:solidFill>
                <a:latin typeface="Calibri" panose="020F0502020204030204"/>
              </a:rPr>
              <a:t>Bitta qishloq</a:t>
            </a:r>
            <a:endParaRPr sz="1100" b="0" i="0">
              <a:solidFill>
                <a:srgbClr val="5EEAD4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606040" cy="1417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25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 panose="020F0502020204030204"/>
              </a:rPr>
              <a:t>~2 900</a:t>
            </a:r>
            <a:endParaRPr sz="3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Oila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3280" y="21762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EAD4"/>
                </a:solidFill>
                <a:latin typeface="Calibri" panose="020F0502020204030204"/>
              </a:rPr>
              <a:t>Potensial mijozlar</a:t>
            </a:r>
            <a:endParaRPr sz="1100" b="0" i="0">
              <a:solidFill>
                <a:srgbClr val="5EEAD4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606040" cy="1417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 panose="020F0502020204030204"/>
              </a:rPr>
              <a:t>500</a:t>
            </a:r>
            <a:endParaRPr sz="32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Oila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0" y="21762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EAD4"/>
                </a:solidFill>
                <a:latin typeface="Calibri" panose="020F0502020204030204"/>
              </a:rPr>
              <a:t>Boshlang'ich maqsad</a:t>
            </a:r>
            <a:endParaRPr sz="1100" b="0" i="0">
              <a:solidFill>
                <a:srgbClr val="5EEAD4"/>
              </a:solidFill>
              <a:latin typeface="Calibri" panose="020F0502020204030204"/>
            </a:endParaRP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2834640"/>
          <a:ext cx="8412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MOLIYAVIY KO'RSATKICHLAR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2926080" cy="192024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 panose="020F0502020204030204"/>
              </a:rPr>
              <a:t>📊 Asoslar</a:t>
            </a:r>
            <a:endParaRPr sz="13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 panose="020F0502020204030204"/>
              </a:rPr>
              <a:t>• Bitta oila: 9 000 so'm/kun</a:t>
            </a:r>
            <a:endParaRPr sz="12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1E293B"/>
                </a:solidFill>
                <a:latin typeface="Calibri" panose="020F0502020204030204"/>
              </a:rPr>
              <a:t>• Sof foyda marjasi: 33%</a:t>
            </a:r>
            <a:endParaRPr sz="12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1E293B"/>
                </a:solidFill>
                <a:latin typeface="Calibri" panose="020F0502020204030204"/>
              </a:rPr>
              <a:t>• Bitta oiladan foyda: 3 000 so'm/kun</a:t>
            </a:r>
            <a:endParaRPr sz="12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1E293B"/>
                </a:solidFill>
                <a:latin typeface="Calibri" panose="020F0502020204030204"/>
              </a:rPr>
              <a:t>• Ish kunlari: 30 kun/oy</a:t>
            </a:r>
            <a:endParaRPr sz="1200" b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66160" y="822960"/>
            <a:ext cx="17373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89611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9488"/>
                </a:solidFill>
                <a:latin typeface="Calibri" panose="020F0502020204030204"/>
              </a:rPr>
              <a:t>45 mln</a:t>
            </a:r>
            <a:endParaRPr sz="24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879" y="14447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so'm/oy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1879" y="1719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500 oila bilan
sof foyda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40679" y="822960"/>
            <a:ext cx="17373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399" y="89611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9488"/>
                </a:solidFill>
                <a:latin typeface="Calibri" panose="020F0502020204030204"/>
              </a:rPr>
              <a:t>135 mln</a:t>
            </a:r>
            <a:endParaRPr sz="24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399" y="14447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so'm/oy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399" y="1719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500 oila bilan
jami savdo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0" y="822960"/>
            <a:ext cx="17373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89611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  <a:latin typeface="Calibri" panose="020F0502020204030204"/>
              </a:rPr>
              <a:t>261 mln</a:t>
            </a:r>
            <a:endParaRPr sz="24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60920" y="14447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so'm/oy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60920" y="1719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2 900 oila bilan
sof foyda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65760" y="2880360"/>
          <a:ext cx="84124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" y="2788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 panose="020F0502020204030204"/>
              </a:rPr>
              <a:t>Oylik sof foyda o'sishi (mln so'm)</a:t>
            </a:r>
            <a:endParaRPr sz="1100" b="1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TEXNOLOGIYA STACK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26060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93B"/>
                </a:solidFill>
                <a:latin typeface="Calibri" panose="020F0502020204030204"/>
              </a:rPr>
              <a:t>🤖</a:t>
            </a:r>
            <a:endParaRPr sz="26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103327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Telegram Bot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14173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aiogram 3.x
FSM, handlers, scheduler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0" y="868680"/>
            <a:ext cx="26060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05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93B"/>
                </a:solidFill>
                <a:latin typeface="Calibri" panose="020F0502020204030204"/>
              </a:rPr>
              <a:t>🗄️</a:t>
            </a:r>
            <a:endParaRPr sz="26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9080" y="103327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PostgreSQL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14173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Markaziy ma'lumotlar
bazasi, asyncpg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0" y="868680"/>
            <a:ext cx="26060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005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93B"/>
                </a:solidFill>
                <a:latin typeface="Calibri" panose="020F0502020204030204"/>
              </a:rPr>
              <a:t>🌐</a:t>
            </a:r>
            <a:endParaRPr sz="26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103327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Web Panel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03720" y="141731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aiohttp + HTML/JS
Professional dashboard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26060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93B"/>
                </a:solidFill>
                <a:latin typeface="Calibri" panose="020F0502020204030204"/>
              </a:rPr>
              <a:t>📱</a:t>
            </a:r>
            <a:endParaRPr sz="26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2907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Mini App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34440" y="3291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Telegram WebApp API
Mijoz interfeysi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00400" y="2743200"/>
            <a:ext cx="26060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880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93B"/>
                </a:solidFill>
                <a:latin typeface="Calibri" panose="020F0502020204030204"/>
              </a:rPr>
              <a:t>🗺️</a:t>
            </a:r>
            <a:endParaRPr sz="26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69080" y="2907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Xarita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69080" y="3291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Leaflet.js +
OpenRouteService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35040" y="2743200"/>
            <a:ext cx="26060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880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93B"/>
                </a:solidFill>
                <a:latin typeface="Calibri" panose="020F0502020204030204"/>
              </a:rPr>
              <a:t>☁️</a:t>
            </a:r>
            <a:endParaRPr sz="26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2907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Cloud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03720" y="3291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Render.com
GitHub CI/CD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 panose="020F0502020204030204"/>
              </a:rPr>
              <a:t>Barcha ma'lumotlar real vaqtda PostgreSQL da saqlanadi. Tizim 24/7 avtomatik ishlaydi.</a:t>
            </a:r>
            <a:endParaRPr sz="12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 panose="020F0502020204030204"/>
              </a:rPr>
              <a:t>TIZIM QANDAY ISHLAYDI</a:t>
            </a:r>
            <a:endParaRPr sz="2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554480" cy="3291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55448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📱 Mijoz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371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Telegram Mini App
orqali mahsulot
tanlaydi va buyurtma
beradi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7" name="Block Arc 6"/>
          <p:cNvSpPr/>
          <p:nvPr/>
        </p:nvSpPr>
        <p:spPr>
          <a:xfrm>
            <a:off x="1874519" y="2423160"/>
            <a:ext cx="16459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79" y="914400"/>
            <a:ext cx="1554480" cy="3291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79" y="914400"/>
            <a:ext cx="1554480" cy="502920"/>
          </a:xfrm>
          <a:prstGeom prst="rect">
            <a:avLst/>
          </a:prstGeom>
          <a:solidFill>
            <a:srgbClr val="6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399" y="932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🤖 Bot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3120" y="1508760"/>
            <a:ext cx="1371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Buyurtmani qabul
qiladi, PostgreSQL
ga saqlaydi,
adminga bildiradi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2" name="Block Arc 11"/>
          <p:cNvSpPr/>
          <p:nvPr/>
        </p:nvSpPr>
        <p:spPr>
          <a:xfrm>
            <a:off x="3611879" y="2423160"/>
            <a:ext cx="16459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914400"/>
            <a:ext cx="1554480" cy="3291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914400"/>
            <a:ext cx="15544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932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👨‍💼 Admin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0479" y="1508760"/>
            <a:ext cx="1371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Web panelda
buyurtmani ko'radi,
tasdiqlaydi,
xaritada ko'radi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7" name="Block Arc 16"/>
          <p:cNvSpPr/>
          <p:nvPr/>
        </p:nvSpPr>
        <p:spPr>
          <a:xfrm>
            <a:off x="5349240" y="2423160"/>
            <a:ext cx="16459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399" y="914400"/>
            <a:ext cx="1554480" cy="3291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399" y="914400"/>
            <a:ext cx="15544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932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🚗 Kuryer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7839" y="1508760"/>
            <a:ext cx="1371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Xaritada marshrut
ochadi, eng yaqin
buyurtmadan
boshlaydi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22" name="Block Arc 21"/>
          <p:cNvSpPr/>
          <p:nvPr/>
        </p:nvSpPr>
        <p:spPr>
          <a:xfrm>
            <a:off x="7086599" y="2423160"/>
            <a:ext cx="164592" cy="0"/>
          </a:xfrm>
          <a:prstGeom prst="blockArc">
            <a:avLst/>
          </a:prstGeom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59" y="914400"/>
            <a:ext cx="1554480" cy="3291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59" y="914400"/>
            <a:ext cx="155448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79" y="932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✅ Natija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199" y="1508760"/>
            <a:ext cx="1371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Mijozga Telegram
orqali bildirishnoma
keladi, hisobot
aytomatik yoziladi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EEAD4"/>
                </a:solidFill>
                <a:latin typeface="Calibri" panose="020F0502020204030204"/>
              </a:rPr>
              <a:t>Bir sikl: Buyurtma → Bot → Admin → Kuryer → Mijoz. Hamma bosqich avtomatik qayd etiladi.</a:t>
            </a:r>
            <a:endParaRPr sz="1200" b="0" i="1">
              <a:solidFill>
                <a:srgbClr val="5EEAD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HOZIRGI NATIJALAR  (Test rejimi)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1920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 panose="020F0502020204030204"/>
              </a:rPr>
              <a:t>✅</a:t>
            </a:r>
            <a:endParaRPr sz="24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9488"/>
                </a:solidFill>
                <a:latin typeface="Calibri" panose="020F0502020204030204"/>
              </a:rPr>
              <a:t>100%</a:t>
            </a:r>
            <a:endParaRPr sz="30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Tizim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Ishga tushirildi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68879" y="868680"/>
            <a:ext cx="1920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 panose="020F0502020204030204"/>
              </a:rPr>
              <a:t>📦</a:t>
            </a:r>
            <a:endParaRPr sz="24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0320" y="960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9488"/>
                </a:solidFill>
                <a:latin typeface="Calibri" panose="020F0502020204030204"/>
              </a:rPr>
              <a:t>15+</a:t>
            </a:r>
            <a:endParaRPr sz="30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0" y="1536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Buyurtmalar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0320" y="1847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Test jarayonida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0" y="868680"/>
            <a:ext cx="1920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 panose="020F0502020204030204"/>
              </a:rPr>
              <a:t>👥</a:t>
            </a:r>
            <a:endParaRPr sz="24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960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 panose="020F0502020204030204"/>
              </a:rPr>
              <a:t>4</a:t>
            </a:r>
            <a:endParaRPr sz="30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3440" y="1536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Mijozlar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63440" y="1847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Test foydalanuvchilar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868680"/>
            <a:ext cx="1920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 panose="020F0502020204030204"/>
              </a:rPr>
              <a:t>⏱️</a:t>
            </a:r>
            <a:endParaRPr sz="24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6559" y="960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06CFF"/>
                </a:solidFill>
                <a:latin typeface="Calibri" panose="020F0502020204030204"/>
              </a:rPr>
              <a:t>2 oy</a:t>
            </a:r>
            <a:endParaRPr sz="3000" b="1" i="0">
              <a:solidFill>
                <a:srgbClr val="606C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6559" y="1536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Vaqt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59" y="1847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Loyiha muddati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60" y="2834640"/>
            <a:ext cx="41148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907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 panose="020F0502020204030204"/>
              </a:rPr>
              <a:t>✅ Tayyor funksiyalar</a:t>
            </a:r>
            <a:endParaRPr sz="13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3291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✓  Telegram Bot (to'liq)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547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✓  Mini App (mijoz interfeysi)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3803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✓  Admin Web Panel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40599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✓  Yetkazish xaritasi + marshrut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4315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✓  PostgreSQL integratsiya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✓  Render cloud deploy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663440" y="2834640"/>
            <a:ext cx="41148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907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 panose="020F0502020204030204"/>
              </a:rPr>
              <a:t>🔜 Keyingi qadamlar</a:t>
            </a:r>
            <a:endParaRPr sz="13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92040" y="3291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→  To'lov tizimi (Payme/Click)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92040" y="3547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→  Haqiqiy mijozlarni jalb qilish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92040" y="3803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→  Qo'shimcha qishloqlar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92040" y="40599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→  Mahsulot assortimentini kengaytirish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92040" y="4315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→  Analitika va AI tavsiyalar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O'SISH REJASI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26517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Faza 1
0-3 oy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444752"/>
            <a:ext cx="265176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500 oila bilan ishga tushish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Tizimni takomillashtirish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To'lov tizimini ulash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96265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Kunlik 4.5 mln so'm savdo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4041648"/>
            <a:ext cx="265176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45 mln so'm/oy
sof foyda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46120" y="868680"/>
            <a:ext cx="2651760" cy="594360"/>
          </a:xfrm>
          <a:prstGeom prst="rect">
            <a:avLst/>
          </a:prstGeom>
          <a:solidFill>
            <a:srgbClr val="6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8869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Faza 2
3-6 oy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46120" y="1444752"/>
            <a:ext cx="265176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5361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1 000+ oilaga kengaytirish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83279" y="20116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Yangi mahsulotlar qo'shish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3279" y="248716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Xodimlar jalb qilish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3279" y="296265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Hisobot tizimini kuchaytirish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46120" y="4041648"/>
            <a:ext cx="2651760" cy="777240"/>
          </a:xfrm>
          <a:prstGeom prst="roundRect">
            <a:avLst/>
          </a:prstGeom>
          <a:solidFill>
            <a:srgbClr val="6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0965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90 mln so'm/oy
sof foyda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26480" y="868680"/>
            <a:ext cx="26517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8869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Faza 3
6-12 oy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80" y="1444752"/>
            <a:ext cx="265176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5361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2 900 oila — to'liq qishloq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20116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Qo'shni qishloqlarga chiqish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248716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Franchise modeli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63640" y="296265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 panose="020F0502020204030204"/>
              </a:rPr>
              <a:t>→  Investor qaytimi boshlash</a:t>
            </a:r>
            <a:endParaRPr sz="1100" b="0" i="0">
              <a:solidFill>
                <a:srgbClr val="CBD5E1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26480" y="4041648"/>
            <a:ext cx="265176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0965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261 mln so'm/oy
sof foyda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INVESTITSIYA TAKLIFI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39319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 panose="020F0502020204030204"/>
              </a:rPr>
              <a:t>💼 So'ralayotgan investitsiya</a:t>
            </a:r>
            <a:endParaRPr sz="1300" b="1" i="0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9488"/>
                </a:solidFill>
                <a:latin typeface="Calibri" panose="020F0502020204030204"/>
              </a:rPr>
              <a:t>50 000 000</a:t>
            </a:r>
            <a:endParaRPr sz="38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 panose="020F0502020204030204"/>
              </a:rPr>
              <a:t>so'm</a:t>
            </a:r>
            <a:endParaRPr sz="16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• Marketing va mijoz jalb qilish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3280" y="2514600"/>
            <a:ext cx="731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40%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• Mahsulot va logistika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83280" y="3017520"/>
            <a:ext cx="731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008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30%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• Texnologiya rivojlantirish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83280" y="3520440"/>
            <a:ext cx="731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511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20%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• Aylanma mablag'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83280" y="4023360"/>
            <a:ext cx="731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014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10%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822960"/>
            <a:ext cx="42062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89611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 panose="020F0502020204030204"/>
              </a:rPr>
              <a:t>📈 Investor uchun qaytim</a:t>
            </a:r>
            <a:endParaRPr sz="1300" b="1" i="0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54880" y="14173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444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3 oy ichida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Investitsiya qaytimi boshlash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754880" y="2167128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194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6 oy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94960" y="2212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Break-even nuqtasi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754880" y="2916936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944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12 oy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94960" y="29626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2-3x qaytim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754880" y="3666744"/>
            <a:ext cx="502920" cy="502920"/>
          </a:xfrm>
          <a:prstGeom prst="ellipse">
            <a:avLst/>
          </a:prstGeom>
          <a:solidFill>
            <a:srgbClr val="6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Ulush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4960" y="371246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Biznesdan foiz ulush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JAMOA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86000" y="868680"/>
            <a:ext cx="45720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86200" y="100584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051560"/>
            <a:ext cx="1371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 panose="020F0502020204030204"/>
              </a:rPr>
              <a:t>A</a:t>
            </a:r>
            <a:endParaRPr sz="4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24871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  <a:latin typeface="Calibri" panose="020F0502020204030204"/>
              </a:rPr>
              <a:t>Abdulaziz Uraimov</a:t>
            </a:r>
            <a:endParaRPr sz="18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29077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9488"/>
                </a:solidFill>
                <a:latin typeface="Calibri" panose="020F0502020204030204"/>
              </a:rPr>
              <a:t>Asoschisi va Texnik Rahbari</a:t>
            </a:r>
            <a:endParaRPr sz="1300" b="0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 panose="020F0502020204030204"/>
              </a:rPr>
              <a:t>20 yosh  •  Dasturchi  •  Biznes arxitekt</a:t>
            </a:r>
            <a:endParaRPr sz="1200" b="0" i="1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828800" cy="502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352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 panose="020F0502020204030204"/>
              </a:rPr>
              <a:t>Telegram Bot</a:t>
            </a:r>
            <a:endParaRPr sz="12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60320" y="4297680"/>
            <a:ext cx="1828800" cy="502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4352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 panose="020F0502020204030204"/>
              </a:rPr>
              <a:t>PostgreSQL</a:t>
            </a:r>
            <a:endParaRPr sz="12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0" y="4297680"/>
            <a:ext cx="1828800" cy="502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52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 panose="020F0502020204030204"/>
              </a:rPr>
              <a:t>Web Panel</a:t>
            </a:r>
            <a:endParaRPr sz="12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0" y="4297680"/>
            <a:ext cx="1828800" cy="502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352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 panose="020F0502020204030204"/>
              </a:rPr>
              <a:t>Biznes tizim</a:t>
            </a:r>
            <a:endParaRPr sz="1200" b="1" i="0">
              <a:solidFill>
                <a:srgbClr val="0D948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 panose="020F0502020204030204"/>
              </a:rPr>
              <a:t>Loyiha 2 oy ichida noldan to'liq ishlaydigan tizim sifatida qurildi.</a:t>
            </a:r>
            <a:endParaRPr sz="11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-1371600"/>
            <a:ext cx="7315200" cy="7315200"/>
          </a:xfrm>
          <a:prstGeom prst="ellipse">
            <a:avLst/>
          </a:prstGeom>
          <a:solidFill>
            <a:srgbClr val="0D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CHORVADOR BILAN BIRGA OʻSING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EEAD4"/>
                </a:solidFill>
                <a:latin typeface="Calibri" panose="020F0502020204030204"/>
              </a:rPr>
              <a:t>Avtomatlashtirilgan yetkazib berish tizimi tayyor.
Faqat investitsiya va birgalikda ishlash kerak.</a:t>
            </a:r>
            <a:endParaRPr sz="1500" b="0" i="1">
              <a:solidFill>
                <a:srgbClr val="5EEAD4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1645920" y="2880360"/>
            <a:ext cx="1097280" cy="10972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  <a:latin typeface="Calibri" panose="020F0502020204030204"/>
              </a:rPr>
              <a:t>✅</a:t>
            </a:r>
            <a:endParaRPr sz="28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8760" y="40050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Tizim
tayyor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3931920" y="2880360"/>
            <a:ext cx="1097280" cy="10972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9260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  <a:latin typeface="Calibri" panose="020F0502020204030204"/>
              </a:rPr>
              <a:t>📈</a:t>
            </a:r>
            <a:endParaRPr sz="28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4759" y="40050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Bozor
katta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217920" y="2880360"/>
            <a:ext cx="1097280" cy="10972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9260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  <a:latin typeface="Calibri" panose="020F0502020204030204"/>
              </a:rPr>
              <a:t>💰</a:t>
            </a:r>
            <a:endParaRPr sz="28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80759" y="40050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Daromad
aniq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28800" y="4526280"/>
            <a:ext cx="5486400" cy="7315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617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EEAD4"/>
                </a:solidFill>
                <a:latin typeface="Calibri" panose="020F0502020204030204"/>
              </a:rPr>
              <a:t>📞 +998900009615  |  Telegram: @abdulaziz_uraimov</a:t>
            </a:r>
            <a:endParaRPr sz="1300" b="1" i="0">
              <a:solidFill>
                <a:srgbClr val="5EEAD4"/>
              </a:solidFill>
              <a:latin typeface="Calibri" panose="020F0502020204030204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6380" y="107950"/>
            <a:ext cx="1156970" cy="11722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2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3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4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5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6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7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8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9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10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11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ags/tag12.xml><?xml version="1.0" encoding="utf-8"?>
<p:tagLst xmlns:p="http://schemas.openxmlformats.org/presentationml/2006/main">
  <p:tag name="KSO_WM_DIAGRAM_VIRTUALLY_FRAME" val="{&quot;height&quot;:252,&quot;left&quot;:36,&quot;top&quot;:72,&quot;width&quot;:66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3772</Words>
  <Application>WPS Presentation</Application>
  <PresentationFormat>On-screen Show (4:3)</PresentationFormat>
  <Paragraphs>359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O'zimniki</cp:lastModifiedBy>
  <cp:revision>3</cp:revision>
  <dcterms:created xsi:type="dcterms:W3CDTF">2013-01-27T09:14:00Z</dcterms:created>
  <dcterms:modified xsi:type="dcterms:W3CDTF">2026-06-28T10:23:10Z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75E31ED7A5CA4C86B40F7742FE4F5561_13</vt:lpwstr>
  </property>
  <property fmtid="{D5CDD505-2E9C-101B-9397-08002B2CF9AE}" pid="3" name="KSOProductBuildVer">
    <vt:lpwstr>2057-12.2.0.23203</vt:lpwstr>
  </property>
</Properties>
</file>